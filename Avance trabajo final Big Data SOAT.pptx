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Trabajamos con la base de reserva de prima no devengada de SOAT a diciembre de 2025, siguiendo CRISP-DM. Parametrización: el archivo viene separado por virgulilla y tiene 71 columnas; leemos solo las 9 que necesita el análisis. Dask divide el archivo en bloques de 128 megabytes, que son las particiones que se procesan en paralelo. La primera configuración del clúster fue de 2 workers con 2 gigabytes cada uno y tardó 53,5 segundos en leer, limpiar y guardar en Parquet; la segunda, de 4 workers con 1 gigabyte, la estamos midiendo para comparar. Los datos están seudonimizados: la llave de análisis es un código generado a partir de sucursal y número de póliza con una clave secreta: es igual en la base de siniestros, lo que permite cruzarlas sin exponer el número real, y se eliminó la identificación del asegurado. Codificación: todo se lee como texto y luego se convierten las fechas y los valores a sus tipos; se crean el mes de emisión y los días de anticipación entre la compra y el inicio de vigencia; la variable objetivo definida es si la póliza tuvo siniestro. Falta el flujo de Prefect, subir los resultados a AWS, el tablero de Grafana y 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emisión de 2025 se mueve entre 225 mil y 293 mil pólizas al mes, con un valle de abril a junio y un pico claro en diciembre: 411 mil pólizas, 57 por ciento por encima del promedio de los otros once meses. La reserva de prima no devengada al cierre ronda los 610 mil millones de pesos y el 22 por ciento viene de lo emitido en diciembre, porque son las pólizas más recientes y además fue el mes de mayor venta. De lo emitido en enero solo queda sin devengar el 5,5 por ciento de la prima; de diciembre, el 93 por ciento. Otro hallazgo: la mediana de anticipación es un día, es decir, el SOAT se compra el día anterior al inicio de vigencia. Limitaciones: tenemos un solo año, así que no podemos afirmar que diciembre siempre sea el pico; y de los siniestros cruzan 75.169 de 142.370 registros, concentrados en los últimos meses, por lo que no calculamos siniestralidad 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Emisión de SOAT 2025: cómo se construyó el análisis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351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Reserva a diciembre de 2025: 1,77 GB, 3,3 millones de registros, 27 sucursales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5975" y="1890382"/>
            <a:ext cx="5179483" cy="3079948"/>
          </a:xfrm>
          <a:prstGeom prst="roundRect">
            <a:avLst>
              <a:gd name="adj" fmla="val 3196"/>
            </a:avLst>
          </a:prstGeom>
          <a:solidFill>
            <a:srgbClr val="FFFFFF"/>
          </a:solidFill>
          <a:ln w="6350">
            <a:solidFill>
              <a:srgbClr val="DEDB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233" y="2094640"/>
            <a:ext cx="49140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5A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Parametrización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32933" y="2437540"/>
          <a:ext cx="4758267" cy="2328532"/>
        </p:xfrm>
        <a:graphic>
          <a:graphicData uri="http://schemas.openxmlformats.org/drawingml/2006/table">
            <a:tbl>
              <a:tblPr/>
              <a:tblGrid>
                <a:gridCol w="1522645"/>
                <a:gridCol w="3235622"/>
              </a:tblGrid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Lectura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Separador ~, 9 de 71 columnas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Bloque Dask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128 MB por partición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Clúster 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 workers, 2 GB cada uno: 53,5 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Clúster 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 workers, 1 GB cada uno: en curso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Seudonimización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Sin identificación del asegurado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Llave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Código de sucursal + póliza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4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Salida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Parquet con fechas y valores tipados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01833" y="1887207"/>
            <a:ext cx="5177367" cy="3086298"/>
          </a:xfrm>
          <a:prstGeom prst="roundRect">
            <a:avLst>
              <a:gd name="adj" fmla="val 3292"/>
            </a:avLst>
          </a:prstGeom>
          <a:solidFill>
            <a:srgbClr val="14213D"/>
          </a:solidFill>
          <a:ln/>
        </p:spPr>
      </p:sp>
      <p:sp>
        <p:nvSpPr>
          <p:cNvPr id="8" name="Text 5"/>
          <p:cNvSpPr/>
          <p:nvPr/>
        </p:nvSpPr>
        <p:spPr>
          <a:xfrm>
            <a:off x="6405033" y="2090407"/>
            <a:ext cx="49140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B4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Codificación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5033" y="2420607"/>
            <a:ext cx="4914096" cy="1305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8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ddf = dd.read_csv(ruta, sep="~",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8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usecols=columnas, dtype=str,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8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blocksize="128MB")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8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dias = ddf.inicio_vigencia - ddf.fecha_emision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8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ddf["dias_anticipacion"] = dias.dt.days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8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ddf.to_parquet("reserva_parquet")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5033" y="3802129"/>
            <a:ext cx="491409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Variables creadas: mes_emision y dias_anticipacion. Objetivo definido: tuvo_siniestro (1 o 0).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2800" y="5176705"/>
            <a:ext cx="3567973" cy="680641"/>
          </a:xfrm>
          <a:prstGeom prst="roundRect">
            <a:avLst>
              <a:gd name="adj" fmla="val 11195"/>
            </a:avLst>
          </a:prstGeom>
          <a:solidFill>
            <a:srgbClr val="E3EDF4"/>
          </a:solidFill>
          <a:ln/>
        </p:spPr>
        <p:txBody>
          <a:bodyPr wrap="square" lIns="130082" tIns="104682" rIns="32187" bIns="792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Hecho:</a:t>
            </a: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seudonimización, EDA y cruce con siniestros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83973" y="5176705"/>
            <a:ext cx="3024055" cy="680641"/>
          </a:xfrm>
          <a:prstGeom prst="roundRect">
            <a:avLst>
              <a:gd name="adj" fmla="val 11195"/>
            </a:avLst>
          </a:prstGeom>
          <a:solidFill>
            <a:srgbClr val="FBE9D3"/>
          </a:solidFill>
          <a:ln/>
        </p:spPr>
        <p:txBody>
          <a:bodyPr wrap="square" lIns="130082" tIns="104682" rIns="48504" bIns="792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curso:</a:t>
            </a: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segunda configuración de Dask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11228" y="5176705"/>
            <a:ext cx="3567973" cy="680641"/>
          </a:xfrm>
          <a:prstGeom prst="roundRect">
            <a:avLst>
              <a:gd name="adj" fmla="val 11195"/>
            </a:avLst>
          </a:prstGeom>
          <a:solidFill>
            <a:srgbClr val="ECEAE4"/>
          </a:solidFill>
          <a:ln/>
        </p:spPr>
        <p:txBody>
          <a:bodyPr wrap="square" lIns="130082" tIns="104682" rIns="32187" bIns="792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Pendiente:</a:t>
            </a: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Prefect, AWS, Grafana, informe y GitHub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Diciembre concentra la emisión y la reserva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Primeros hallazgos del análisis exploratorio sobre 3,3 millones de pólizas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2800" y="1938007"/>
            <a:ext cx="6547578" cy="3118975"/>
          </a:xfrm>
          <a:prstGeom prst="roundRect">
            <a:avLst>
              <a:gd name="adj" fmla="val 3257"/>
            </a:avLst>
          </a:prstGeom>
          <a:solidFill>
            <a:srgbClr val="1B2B4D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41207"/>
            <a:ext cx="63254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Pólizas emitidas por mes en 2025 (miles)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124" y="3040328"/>
            <a:ext cx="329248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291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77648" y="3273954"/>
            <a:ext cx="330200" cy="1346200"/>
          </a:xfrm>
          <a:prstGeom prst="roundRect">
            <a:avLst>
              <a:gd name="adj" fmla="val 7692"/>
            </a:avLst>
          </a:prstGeom>
          <a:solidFill>
            <a:srgbClr val="5F8FB4"/>
          </a:solidFill>
          <a:ln/>
        </p:spPr>
      </p:sp>
      <p:sp>
        <p:nvSpPr>
          <p:cNvPr id="8" name="Text 6"/>
          <p:cNvSpPr/>
          <p:nvPr/>
        </p:nvSpPr>
        <p:spPr>
          <a:xfrm>
            <a:off x="1087259" y="4670954"/>
            <a:ext cx="310912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95120" y="3110178"/>
            <a:ext cx="329248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94644" y="3343804"/>
            <a:ext cx="330200" cy="1276350"/>
          </a:xfrm>
          <a:prstGeom prst="roundRect">
            <a:avLst>
              <a:gd name="adj" fmla="val 7692"/>
            </a:avLst>
          </a:prstGeom>
          <a:solidFill>
            <a:srgbClr val="5F8FB4"/>
          </a:solidFill>
          <a:ln/>
        </p:spPr>
      </p:sp>
      <p:sp>
        <p:nvSpPr>
          <p:cNvPr id="11" name="Text 9"/>
          <p:cNvSpPr/>
          <p:nvPr/>
        </p:nvSpPr>
        <p:spPr>
          <a:xfrm>
            <a:off x="1607608" y="4670954"/>
            <a:ext cx="304271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12182" y="3110178"/>
            <a:ext cx="329248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11706" y="3343804"/>
            <a:ext cx="330200" cy="1276350"/>
          </a:xfrm>
          <a:prstGeom prst="roundRect">
            <a:avLst>
              <a:gd name="adj" fmla="val 7692"/>
            </a:avLst>
          </a:prstGeom>
          <a:solidFill>
            <a:srgbClr val="5F8FB4"/>
          </a:solidFill>
          <a:ln/>
        </p:spPr>
      </p:sp>
      <p:sp>
        <p:nvSpPr>
          <p:cNvPr id="14" name="Text 12"/>
          <p:cNvSpPr/>
          <p:nvPr/>
        </p:nvSpPr>
        <p:spPr>
          <a:xfrm>
            <a:off x="2120192" y="4670954"/>
            <a:ext cx="313293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29244" y="3313378"/>
            <a:ext cx="329248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28768" y="3547004"/>
            <a:ext cx="330200" cy="1073150"/>
          </a:xfrm>
          <a:prstGeom prst="roundRect">
            <a:avLst>
              <a:gd name="adj" fmla="val 7692"/>
            </a:avLst>
          </a:prstGeom>
          <a:solidFill>
            <a:srgbClr val="5F8FB4"/>
          </a:solidFill>
          <a:ln/>
        </p:spPr>
      </p:sp>
      <p:sp>
        <p:nvSpPr>
          <p:cNvPr id="17" name="Text 15"/>
          <p:cNvSpPr/>
          <p:nvPr/>
        </p:nvSpPr>
        <p:spPr>
          <a:xfrm>
            <a:off x="2647487" y="4670954"/>
            <a:ext cx="292828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46306" y="3300678"/>
            <a:ext cx="329248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45830" y="3534304"/>
            <a:ext cx="330200" cy="1085850"/>
          </a:xfrm>
          <a:prstGeom prst="roundRect">
            <a:avLst>
              <a:gd name="adj" fmla="val 7692"/>
            </a:avLst>
          </a:prstGeom>
          <a:solidFill>
            <a:srgbClr val="5F8FB4"/>
          </a:solidFill>
          <a:ln/>
        </p:spPr>
      </p:sp>
      <p:sp>
        <p:nvSpPr>
          <p:cNvPr id="20" name="Text 18"/>
          <p:cNvSpPr/>
          <p:nvPr/>
        </p:nvSpPr>
        <p:spPr>
          <a:xfrm>
            <a:off x="3142655" y="4670954"/>
            <a:ext cx="336550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63368" y="3345128"/>
            <a:ext cx="329248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62892" y="3578754"/>
            <a:ext cx="330200" cy="1041400"/>
          </a:xfrm>
          <a:prstGeom prst="roundRect">
            <a:avLst>
              <a:gd name="adj" fmla="val 7692"/>
            </a:avLst>
          </a:prstGeom>
          <a:solidFill>
            <a:srgbClr val="5F8FB4"/>
          </a:solidFill>
          <a:ln/>
        </p:spPr>
      </p:sp>
      <p:sp>
        <p:nvSpPr>
          <p:cNvPr id="23" name="Text 21"/>
          <p:cNvSpPr/>
          <p:nvPr/>
        </p:nvSpPr>
        <p:spPr>
          <a:xfrm>
            <a:off x="3677179" y="4670954"/>
            <a:ext cx="301691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80430" y="3084778"/>
            <a:ext cx="329248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281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79954" y="3318404"/>
            <a:ext cx="330200" cy="1301750"/>
          </a:xfrm>
          <a:prstGeom prst="roundRect">
            <a:avLst>
              <a:gd name="adj" fmla="val 7692"/>
            </a:avLst>
          </a:prstGeom>
          <a:solidFill>
            <a:srgbClr val="5F8FB4"/>
          </a:solidFill>
          <a:ln/>
        </p:spPr>
      </p:sp>
      <p:sp>
        <p:nvSpPr>
          <p:cNvPr id="26" name="Text 24"/>
          <p:cNvSpPr/>
          <p:nvPr/>
        </p:nvSpPr>
        <p:spPr>
          <a:xfrm>
            <a:off x="4216797" y="4670954"/>
            <a:ext cx="256580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97492" y="3243528"/>
            <a:ext cx="329248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97016" y="3477154"/>
            <a:ext cx="330200" cy="1143000"/>
          </a:xfrm>
          <a:prstGeom prst="roundRect">
            <a:avLst>
              <a:gd name="adj" fmla="val 7692"/>
            </a:avLst>
          </a:prstGeom>
          <a:solidFill>
            <a:srgbClr val="5F8FB4"/>
          </a:solidFill>
          <a:ln/>
        </p:spPr>
      </p:sp>
      <p:sp>
        <p:nvSpPr>
          <p:cNvPr id="29" name="Text 27"/>
          <p:cNvSpPr/>
          <p:nvPr/>
        </p:nvSpPr>
        <p:spPr>
          <a:xfrm>
            <a:off x="4704556" y="4670954"/>
            <a:ext cx="315119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4554" y="3205428"/>
            <a:ext cx="329248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214078" y="3439054"/>
            <a:ext cx="330200" cy="1181100"/>
          </a:xfrm>
          <a:prstGeom prst="roundRect">
            <a:avLst>
              <a:gd name="adj" fmla="val 7692"/>
            </a:avLst>
          </a:prstGeom>
          <a:solidFill>
            <a:srgbClr val="5F8FB4"/>
          </a:solidFill>
          <a:ln/>
        </p:spPr>
      </p:sp>
      <p:sp>
        <p:nvSpPr>
          <p:cNvPr id="32" name="Text 30"/>
          <p:cNvSpPr/>
          <p:nvPr/>
        </p:nvSpPr>
        <p:spPr>
          <a:xfrm>
            <a:off x="5222809" y="4670954"/>
            <a:ext cx="312738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31616" y="3027628"/>
            <a:ext cx="329248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293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31140" y="3261254"/>
            <a:ext cx="330200" cy="1358900"/>
          </a:xfrm>
          <a:prstGeom prst="roundRect">
            <a:avLst>
              <a:gd name="adj" fmla="val 7692"/>
            </a:avLst>
          </a:prstGeom>
          <a:solidFill>
            <a:srgbClr val="5F8FB4"/>
          </a:solidFill>
          <a:ln/>
        </p:spPr>
      </p:sp>
      <p:sp>
        <p:nvSpPr>
          <p:cNvPr id="35" name="Text 33"/>
          <p:cNvSpPr/>
          <p:nvPr/>
        </p:nvSpPr>
        <p:spPr>
          <a:xfrm>
            <a:off x="5751843" y="4670954"/>
            <a:ext cx="288859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Oct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48678" y="3135578"/>
            <a:ext cx="329248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48202" y="3369204"/>
            <a:ext cx="330200" cy="1250950"/>
          </a:xfrm>
          <a:prstGeom prst="roundRect">
            <a:avLst>
              <a:gd name="adj" fmla="val 7692"/>
            </a:avLst>
          </a:prstGeom>
          <a:solidFill>
            <a:srgbClr val="5F8FB4"/>
          </a:solidFill>
          <a:ln/>
        </p:spPr>
      </p:sp>
      <p:sp>
        <p:nvSpPr>
          <p:cNvPr id="38" name="Text 36"/>
          <p:cNvSpPr/>
          <p:nvPr/>
        </p:nvSpPr>
        <p:spPr>
          <a:xfrm>
            <a:off x="6253196" y="4670954"/>
            <a:ext cx="320278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Nov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65740" y="2481528"/>
            <a:ext cx="329248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6B4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411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765264" y="2715154"/>
            <a:ext cx="330200" cy="1905000"/>
          </a:xfrm>
          <a:prstGeom prst="roundRect">
            <a:avLst>
              <a:gd name="adj" fmla="val 7692"/>
            </a:avLst>
          </a:prstGeom>
          <a:solidFill>
            <a:srgbClr val="F6B45A"/>
          </a:solidFill>
          <a:ln/>
        </p:spPr>
      </p:sp>
      <p:sp>
        <p:nvSpPr>
          <p:cNvPr id="41" name="Text 39"/>
          <p:cNvSpPr/>
          <p:nvPr/>
        </p:nvSpPr>
        <p:spPr>
          <a:xfrm>
            <a:off x="6790664" y="4670954"/>
            <a:ext cx="279400" cy="20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6B4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Dic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766778" y="1938007"/>
            <a:ext cx="3720795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6B4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+57 %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7766778" y="2410420"/>
            <a:ext cx="372079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8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Pólizas de diciembre frente al promedio de enero a noviembre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66778" y="3154628"/>
            <a:ext cx="3720795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6B4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22 %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7766778" y="3627041"/>
            <a:ext cx="372079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8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la reserva al cierre (cerca de $610.000 millones) viene de lo emitido en diciembre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766778" y="4371248"/>
            <a:ext cx="3720795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6B4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día</a:t>
            </a:r>
            <a:endParaRPr lang="en-US" sz="3200" dirty="0"/>
          </a:p>
        </p:txBody>
      </p:sp>
      <p:sp>
        <p:nvSpPr>
          <p:cNvPr id="47" name="Text 45"/>
          <p:cNvSpPr/>
          <p:nvPr/>
        </p:nvSpPr>
        <p:spPr>
          <a:xfrm>
            <a:off x="7766778" y="4843661"/>
            <a:ext cx="37207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8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Mediana entre la compra y el inicio de vigencia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12800" y="6253494"/>
            <a:ext cx="10883392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FC8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Alcance: la base cubre un solo año de emisión, por lo que se describe 2025 y no se afirma estacionalidad. Siniestros enlazados: 53 % de los registros.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vance trabajo final Big Data SOAT">
  <a:themeElements>
    <a:clrScheme name="Avance trabajo final Big Data SOAT">
      <a:dk1>
        <a:srgbClr val="14213D"/>
      </a:dk1>
      <a:lt1>
        <a:srgbClr val="F7F6F2"/>
      </a:lt1>
      <a:dk2>
        <a:srgbClr val="4D566A"/>
      </a:dk2>
      <a:lt2>
        <a:srgbClr val="E0E1E0"/>
      </a:lt2>
      <a:accent1>
        <a:srgbClr val="5F8FB4"/>
      </a:accent1>
      <a:accent2>
        <a:srgbClr val="F6B45A"/>
      </a:accent2>
      <a:accent3>
        <a:srgbClr val="FBE9D3"/>
      </a:accent3>
      <a:accent4>
        <a:srgbClr val="1F5A80"/>
      </a:accent4>
      <a:accent5>
        <a:srgbClr val="BFC8D6"/>
      </a:accent5>
      <a:accent6>
        <a:srgbClr val="4A5568"/>
      </a:accent6>
      <a:hlink>
        <a:srgbClr val="0563C1"/>
      </a:hlink>
      <a:folHlink>
        <a:srgbClr val="954F72"/>
      </a:folHlink>
    </a:clrScheme>
    <a:fontScheme name="Avance trabajo final Big Data SOAT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trabajo final Big Data SOAT</dc:title>
  <dc:subject/>
  <dc:creator/>
  <cp:lastModifiedBy/>
  <cp:revision>1</cp:revision>
  <dcterms:created xsi:type="dcterms:W3CDTF">2026-10-10T15:07:41Z</dcterms:created>
  <dcterms:modified xsi:type="dcterms:W3CDTF">2026-10-10T15:07:41Z</dcterms:modified>
</cp:coreProperties>
</file>